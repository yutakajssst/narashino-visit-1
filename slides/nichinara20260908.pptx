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Relationship Id="rId4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91377D"/>
              </a:gs>
              <a:gs pos="100000">
                <a:srgbClr val="593FBF"/>
              </a:gs>
            </a:gsLst>
            <a:lin scaled="0" ang="204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91840" y="1965960"/>
            <a:ext cx="5577840" cy="190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14884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 spc="40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C r e a t i n g   A   N e w   W o r l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761488"/>
            <a:ext cx="103327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5000" b="1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AIと20分で、</a:t>
            </a:r>
          </a:p>
          <a:p>
            <a:pPr>
              <a:lnSpc>
                <a:spcPct val="120000"/>
              </a:lnSpc>
            </a:pPr>
            <a:r>
              <a:rPr sz="5000" b="1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日習のホームページを作る</a:t>
            </a:r>
          </a:p>
        </p:txBody>
      </p:sp>
      <p:sp>
        <p:nvSpPr>
          <p:cNvPr id="6" name="Rectangle 5"/>
          <p:cNvSpPr/>
          <p:nvPr/>
        </p:nvSpPr>
        <p:spPr>
          <a:xfrm>
            <a:off x="3291840" y="4956048"/>
            <a:ext cx="5577840" cy="190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230368"/>
            <a:ext cx="103327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日本大学理工学部 応用情報工学科　教授　松野 裕</a:t>
            </a:r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2026年9月8日　日本大学習志野高等学校 1学年 学部見学会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Profile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松野 裕（まつの ゆたか）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632764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日本大学理工学部 応用情報工学科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27648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331720"/>
            <a:ext cx="5852160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90000"/>
              </a:lnSpc>
              <a:spcBef>
                <a:spcPts val="600"/>
              </a:spcBef>
            </a:pPr>
            <a:r>
              <a:rPr sz="19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・プログラミング言語</a:t>
            </a:r>
          </a:p>
          <a:p>
            <a:pPr>
              <a:lnSpc>
                <a:spcPct val="190000"/>
              </a:lnSpc>
              <a:spcBef>
                <a:spcPts val="600"/>
              </a:spcBef>
            </a:pPr>
            <a:r>
              <a:rPr sz="19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・ソフトウェア工学</a:t>
            </a:r>
          </a:p>
          <a:p>
            <a:pPr>
              <a:lnSpc>
                <a:spcPct val="190000"/>
              </a:lnSpc>
              <a:spcBef>
                <a:spcPts val="600"/>
              </a:spcBef>
            </a:pPr>
            <a:r>
              <a:rPr sz="19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・システムの総合信頼性（Dependability）</a:t>
            </a:r>
          </a:p>
          <a:p>
            <a:pPr>
              <a:lnSpc>
                <a:spcPct val="170000"/>
              </a:lnSpc>
              <a:spcBef>
                <a:spcPts val="2200"/>
              </a:spcBef>
            </a:pPr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ソフトウェアを、どうやって安心して使えるものにするか。</a:t>
            </a:r>
          </a:p>
          <a:p>
            <a:pPr>
              <a:lnSpc>
                <a:spcPct val="170000"/>
              </a:lnSpc>
            </a:pPr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それを研究しています。</a:t>
            </a:r>
          </a:p>
        </p:txBody>
      </p:sp>
      <p:pic>
        <p:nvPicPr>
          <p:cNvPr id="9" name="Picture 8" descr="image2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52410" y="2194560"/>
            <a:ext cx="2674620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Campus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みなさんの学校と、同じキャンパスの中にあります。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084831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船橋日大前駅から歩いて5分。日大習志野高校の校舎も、この地図の中にあります。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2764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日本大学理工学部 応用情報工学科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27648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3</a:t>
            </a:r>
          </a:p>
        </p:txBody>
      </p:sp>
      <p:pic>
        <p:nvPicPr>
          <p:cNvPr id="9" name="Picture 8" descr="campus_annota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8850" y="2468880"/>
            <a:ext cx="5663820" cy="37947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About 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AIとIoTを組み合わせたソフトウェアものづくりを学ぶ。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084831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応用情報工学科では、3つの分野を学びます。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2764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日本大学理工学部 応用情報工学科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27648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4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560320"/>
            <a:ext cx="3419856" cy="347472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field1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560320"/>
            <a:ext cx="3419856" cy="192024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85800" y="4480560"/>
            <a:ext cx="50800" cy="155448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1832" y="4645152"/>
            <a:ext cx="296265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情報処理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" y="5138928"/>
            <a:ext cx="296265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データを分析して、価値のある情報をつくる。AIもこの分野。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79976" y="2560320"/>
            <a:ext cx="3419856" cy="347472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field2w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9976" y="2560320"/>
            <a:ext cx="3419856" cy="192024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379976" y="4480560"/>
            <a:ext cx="50800" cy="155448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36008" y="4645152"/>
            <a:ext cx="296265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ネットワークシステム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36008" y="5138928"/>
            <a:ext cx="296265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モノやサービスをつなぎ、情報を安全・確実に届ける。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74152" y="2560320"/>
            <a:ext cx="3419856" cy="347472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field3w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2560320"/>
            <a:ext cx="3419856" cy="1920240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8074152" y="4480560"/>
            <a:ext cx="50800" cy="155448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30184" y="4645152"/>
            <a:ext cx="296265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組込みシステム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0184" y="5138928"/>
            <a:ext cx="296265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家電や機械の中で動くソフトウェアをつくる。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Students'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日習の先輩が、この学科で一緒に作っています。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084831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CSTコースの皆さんの作品。高校にいながら、理工学部の授業を受けられます。（クリックで再生・30秒）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2764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日本大学理工学部 応用情報工学科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27648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5</a:t>
            </a:r>
          </a:p>
        </p:txBody>
      </p:sp>
      <p:pic>
        <p:nvPicPr>
          <p:cNvPr id="9" name="nichinara_work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2880360" y="2670048"/>
            <a:ext cx="6428232" cy="32004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20分で、日習のホームページを作ります。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632764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日本大学理工学部 応用情報工学科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27648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6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514600"/>
            <a:ext cx="2606040" cy="292608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2514600"/>
            <a:ext cx="2606040" cy="508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83464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spc="20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61188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見せる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51960"/>
            <a:ext cx="2057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</a:pPr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AIが昨日つくったサイトを見る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20440" y="2514600"/>
            <a:ext cx="2606040" cy="292608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20440" y="2514600"/>
            <a:ext cx="2606040" cy="508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94760" y="283464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spc="20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94760" y="361188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聞く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94760" y="4251960"/>
            <a:ext cx="2057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</a:pPr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みなさんに、日習のいいところを聞く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55080" y="2514600"/>
            <a:ext cx="2606040" cy="292608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55080" y="2514600"/>
            <a:ext cx="2606040" cy="508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29400" y="283464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spc="20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9400" y="361188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書き換える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9400" y="4251960"/>
            <a:ext cx="2057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</a:pPr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聞いたことを、その場でAIに反映させる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189720" y="2514600"/>
            <a:ext cx="2606040" cy="292608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89720" y="2514600"/>
            <a:ext cx="2606040" cy="508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64040" y="283464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spc="20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64040" y="361188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公開する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64040" y="4251960"/>
            <a:ext cx="2057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</a:pPr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本物のURLで公開して、QRで配る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91377D"/>
              </a:gs>
              <a:gs pos="100000">
                <a:srgbClr val="593FBF"/>
              </a:gs>
            </a:gsLst>
            <a:lin scaled="0" ang="204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1965960"/>
            <a:ext cx="10241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spc="320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Your Turn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514600"/>
            <a:ext cx="1024128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4600" b="1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みなさんに聞きます。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2764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日本大学理工学部 応用情報工学科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327648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251960"/>
            <a:ext cx="100584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9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　日習のいいところは？</a:t>
            </a:r>
          </a:p>
          <a:p>
            <a:pPr>
              <a:lnSpc>
                <a:spcPct val="155000"/>
              </a:lnSpc>
            </a:pPr>
            <a:r>
              <a:rPr sz="19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　売店で一番買うものは？</a:t>
            </a:r>
          </a:p>
          <a:p>
            <a:pPr>
              <a:lnSpc>
                <a:spcPct val="155000"/>
              </a:lnSpc>
            </a:pPr>
            <a:r>
              <a:rPr sz="19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　サイトの色は何色にする？</a:t>
            </a:r>
          </a:p>
          <a:p>
            <a:pPr>
              <a:lnSpc>
                <a:spcPct val="155000"/>
              </a:lnSpc>
            </a:pPr>
            <a:r>
              <a:rPr sz="19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　ゲームの敵、何にする？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Behind the Scenes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いま、AIは何をしているのか。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632764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日本大学理工学部 応用情報工学科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27648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8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743200"/>
            <a:ext cx="3154680" cy="228600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743200"/>
            <a:ext cx="50800" cy="22860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3154680"/>
            <a:ext cx="2514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みなさんの言葉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977639"/>
            <a:ext cx="2514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「人工芝がいい」</a:t>
            </a:r>
          </a:p>
          <a:p>
            <a:pPr>
              <a:lnSpc>
                <a:spcPct val="155000"/>
              </a:lnSpc>
            </a:pPr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「売店のパンがうまい」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0" y="3703320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0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63440" y="2743200"/>
            <a:ext cx="3154680" cy="228600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663440" y="2743200"/>
            <a:ext cx="50800" cy="22860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83480" y="3154680"/>
            <a:ext cx="2514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AIがデータを書き換える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83480" y="3977639"/>
            <a:ext cx="2514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文章・色・ゲームの設定を</a:t>
            </a:r>
          </a:p>
          <a:p>
            <a:pPr>
              <a:lnSpc>
                <a:spcPct val="155000"/>
              </a:lnSpc>
            </a:pPr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まとめて直す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8120" y="3703320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0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549640" y="2743200"/>
            <a:ext cx="3154680" cy="228600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49640" y="2743200"/>
            <a:ext cx="50800" cy="22860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69680" y="3154680"/>
            <a:ext cx="2514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サイトが変わる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0" y="3977639"/>
            <a:ext cx="2514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読み込み直すと</a:t>
            </a:r>
          </a:p>
          <a:p>
            <a:pPr>
              <a:lnSpc>
                <a:spcPct val="155000"/>
              </a:lnSpc>
            </a:pPr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見た目が変わる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How to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AIには、こう頼みます。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632764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日本大学理工学部 応用情報工学科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27648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9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450592"/>
            <a:ext cx="6675120" cy="3493008"/>
          </a:xfrm>
          <a:prstGeom prst="rect">
            <a:avLst/>
          </a:prstGeom>
          <a:solidFill>
            <a:srgbClr val="2B25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697480"/>
            <a:ext cx="6217920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E8E3EE"/>
                </a:solidFill>
                <a:latin typeface="Hiragino Kaku Gothic ProN"/>
                <a:ea typeface="Hiragino Kaku Gothic ProN"/>
                <a:cs typeface="Hiragino Kaku Gothic ProN"/>
              </a:rPr>
              <a:t>日大習志野高校の1年生に聞いた内容を、</a:t>
            </a:r>
          </a:p>
          <a:p>
            <a:pPr>
              <a:lnSpc>
                <a:spcPct val="155000"/>
              </a:lnSpc>
            </a:pPr>
            <a:r>
              <a:rPr sz="1400" b="0">
                <a:solidFill>
                  <a:srgbClr val="E8E3EE"/>
                </a:solidFill>
                <a:latin typeface="Hiragino Kaku Gothic ProN"/>
                <a:ea typeface="Hiragino Kaku Gothic ProN"/>
                <a:cs typeface="Hiragino Kaku Gothic ProN"/>
              </a:rPr>
              <a:t>サイトに反映してください。</a:t>
            </a:r>
          </a:p>
          <a:p>
            <a:pPr>
              <a:lnSpc>
                <a:spcPct val="155000"/>
              </a:lnSpc>
            </a:pPr>
            <a:r>
              <a:rPr sz="1400" b="0">
                <a:solidFill>
                  <a:srgbClr val="E8E3EE"/>
                </a:solidFill>
                <a:latin typeface="Hiragino Kaku Gothic ProN"/>
                <a:ea typeface="Hiragino Kaku Gothic ProN"/>
                <a:cs typeface="Hiragino Kaku Gothic ProN"/>
              </a:rPr>
              <a:t>　</a:t>
            </a:r>
          </a:p>
          <a:p>
            <a:pPr>
              <a:lnSpc>
                <a:spcPct val="155000"/>
              </a:lnSpc>
            </a:pPr>
            <a:r>
              <a:rPr sz="1400" b="0">
                <a:solidFill>
                  <a:srgbClr val="E8E3EE"/>
                </a:solidFill>
                <a:latin typeface="Hiragino Kaku Gothic ProN"/>
                <a:ea typeface="Hiragino Kaku Gothic ProN"/>
                <a:cs typeface="Hiragino Kaku Gothic ProN"/>
              </a:rPr>
              <a:t>・魅力の3つを「人工芝」「売店」「図書室」にする</a:t>
            </a:r>
          </a:p>
          <a:p>
            <a:pPr>
              <a:lnSpc>
                <a:spcPct val="155000"/>
              </a:lnSpc>
            </a:pPr>
            <a:r>
              <a:rPr sz="1400" b="0">
                <a:solidFill>
                  <a:srgbClr val="E8E3EE"/>
                </a:solidFill>
                <a:latin typeface="Hiragino Kaku Gothic ProN"/>
                <a:ea typeface="Hiragino Kaku Gothic ProN"/>
                <a:cs typeface="Hiragino Kaku Gothic ProN"/>
              </a:rPr>
              <a:t>・生徒の声を、次の3つの言葉に差し替える</a:t>
            </a:r>
          </a:p>
          <a:p>
            <a:pPr>
              <a:lnSpc>
                <a:spcPct val="155000"/>
              </a:lnSpc>
            </a:pPr>
            <a:r>
              <a:rPr sz="1400" b="0">
                <a:solidFill>
                  <a:srgbClr val="E8E3EE"/>
                </a:solidFill>
                <a:latin typeface="Hiragino Kaku Gothic ProN"/>
                <a:ea typeface="Hiragino Kaku Gothic ProN"/>
                <a:cs typeface="Hiragino Kaku Gothic ProN"/>
              </a:rPr>
              <a:t>・テーマの色を青系にする</a:t>
            </a:r>
          </a:p>
          <a:p>
            <a:pPr>
              <a:lnSpc>
                <a:spcPct val="155000"/>
              </a:lnSpc>
            </a:pPr>
            <a:r>
              <a:rPr sz="1400" b="0">
                <a:solidFill>
                  <a:srgbClr val="E8E3EE"/>
                </a:solidFill>
                <a:latin typeface="Hiragino Kaku Gothic ProN"/>
                <a:ea typeface="Hiragino Kaku Gothic ProN"/>
                <a:cs typeface="Hiragino Kaku Gothic ProN"/>
              </a:rPr>
              <a:t>　</a:t>
            </a:r>
          </a:p>
          <a:p>
            <a:pPr>
              <a:lnSpc>
                <a:spcPct val="155000"/>
              </a:lnSpc>
            </a:pPr>
            <a:r>
              <a:rPr sz="1400" b="0">
                <a:solidFill>
                  <a:srgbClr val="E8E3EE"/>
                </a:solidFill>
                <a:latin typeface="Hiragino Kaku Gothic ProN"/>
                <a:ea typeface="Hiragino Kaku Gothic ProN"/>
                <a:cs typeface="Hiragino Kaku Gothic ProN"/>
              </a:rPr>
              <a:t>script.js の siteData だけを変更し、</a:t>
            </a:r>
          </a:p>
          <a:p>
            <a:pPr>
              <a:lnSpc>
                <a:spcPct val="155000"/>
              </a:lnSpc>
            </a:pPr>
            <a:r>
              <a:rPr sz="1400" b="0">
                <a:solidFill>
                  <a:srgbClr val="E8E3EE"/>
                </a:solidFill>
                <a:latin typeface="Hiragino Kaku Gothic ProN"/>
                <a:ea typeface="Hiragino Kaku Gothic ProN"/>
                <a:cs typeface="Hiragino Kaku Gothic ProN"/>
              </a:rPr>
              <a:t>他のコードは変えないでください。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2697480"/>
            <a:ext cx="3749039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聞いた言葉を、そのまま渡す</a:t>
            </a:r>
          </a:p>
          <a:p>
            <a:pPr>
              <a:lnSpc>
                <a:spcPct val="150000"/>
              </a:lnSpc>
              <a:spcBef>
                <a:spcPts val="400"/>
              </a:spcBef>
            </a:pPr>
            <a:r>
              <a:rPr sz="13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「いい感じにして」では伝わらない</a:t>
            </a:r>
          </a:p>
          <a:p>
            <a:pPr>
              <a:spcBef>
                <a:spcPts val="2600"/>
              </a:spcBef>
            </a:pPr>
            <a:r>
              <a:rPr sz="1700" b="1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どこを変えるか、名指しする</a:t>
            </a:r>
          </a:p>
          <a:p>
            <a:pPr>
              <a:lnSpc>
                <a:spcPct val="150000"/>
              </a:lnSpc>
              <a:spcBef>
                <a:spcPts val="400"/>
              </a:spcBef>
            </a:pPr>
            <a:r>
              <a:rPr sz="13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変えてほしい場所をはっきり言う</a:t>
            </a:r>
          </a:p>
          <a:p>
            <a:pPr>
              <a:spcBef>
                <a:spcPts val="2600"/>
              </a:spcBef>
            </a:pPr>
            <a:r>
              <a:rPr sz="1700" b="1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変えないでほしい所も、言う</a:t>
            </a:r>
          </a:p>
          <a:p>
            <a:pPr>
              <a:lnSpc>
                <a:spcPct val="150000"/>
              </a:lnSpc>
              <a:spcBef>
                <a:spcPts val="400"/>
              </a:spcBef>
            </a:pPr>
            <a:r>
              <a:rPr sz="13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触られたくない部分を先に守る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91377D"/>
              </a:gs>
              <a:gs pos="100000">
                <a:srgbClr val="593FBF"/>
              </a:gs>
            </a:gsLst>
            <a:lin scaled="0" ang="204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1965960"/>
            <a:ext cx="10241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spc="320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Why It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514600"/>
            <a:ext cx="1024128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4600" b="1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AIと対話できる人が、必要になる。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663440"/>
            <a:ext cx="9601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6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うまく頼む。出てきたものを確かめる。ちがえば、ちがうと言って直させる。この往復ができる人です。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32764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日本大学理工学部 応用情報工学科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27648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Dialogue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このミニ講義も、AIとの対話で作りました。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084831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きのうの1時間40分。作業の記録（Gitの履歴）から、そのままの時刻です。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2764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日本大学理工学部 応用情報工学科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27648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11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596896"/>
            <a:ext cx="38100" cy="384048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2542032"/>
            <a:ext cx="8686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91377D"/>
                </a:solidFill>
                <a:latin typeface="Menlo"/>
                <a:ea typeface="Menlo"/>
                <a:cs typeface="Menlo"/>
              </a:rPr>
              <a:t>12:36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2542032"/>
            <a:ext cx="51206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「20分ずつ、2回。リポジトリを分けて作って」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69480" y="2542032"/>
            <a:ext cx="4572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2542032"/>
            <a:ext cx="374903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日習のサイトの下地ができた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3172968"/>
            <a:ext cx="38100" cy="384048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" y="3118104"/>
            <a:ext cx="8686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91377D"/>
                </a:solidFill>
                <a:latin typeface="Menlo"/>
                <a:ea typeface="Menlo"/>
                <a:cs typeface="Menlo"/>
              </a:rPr>
              <a:t>13:00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3118104"/>
            <a:ext cx="51206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「いかにもAIが作ったサイト。作り直して」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480" y="3118104"/>
            <a:ext cx="4572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3118104"/>
            <a:ext cx="374903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デザインを全部組み直した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3749040"/>
            <a:ext cx="38100" cy="384048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694176"/>
            <a:ext cx="8686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91377D"/>
                </a:solidFill>
                <a:latin typeface="Menlo"/>
                <a:ea typeface="Menlo"/>
                <a:cs typeface="Menlo"/>
              </a:rPr>
              <a:t>13:32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20240" y="3694176"/>
            <a:ext cx="51206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「ゲームが単調。もっと本格的に」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69480" y="3694176"/>
            <a:ext cx="4572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▶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0" y="3694176"/>
            <a:ext cx="374903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3ステージのアクションゲームになった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4325112"/>
            <a:ext cx="38100" cy="384048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2688" y="4270248"/>
            <a:ext cx="8686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91377D"/>
                </a:solidFill>
                <a:latin typeface="Menlo"/>
                <a:ea typeface="Menlo"/>
                <a:cs typeface="Menlo"/>
              </a:rPr>
              <a:t>13:45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4270248"/>
            <a:ext cx="51206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「公開したら、ゲームが動かない」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69480" y="4270248"/>
            <a:ext cx="4572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▶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4270248"/>
            <a:ext cx="374903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バグを見つけて直した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5800" y="4901184"/>
            <a:ext cx="38100" cy="384048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2688" y="4846320"/>
            <a:ext cx="8686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91377D"/>
                </a:solidFill>
                <a:latin typeface="Menlo"/>
                <a:ea typeface="Menlo"/>
                <a:cs typeface="Menlo"/>
              </a:rPr>
              <a:t>14:13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920240" y="4846320"/>
            <a:ext cx="51206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「スライドを作って」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69480" y="4846320"/>
            <a:ext cx="4572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▶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4846320"/>
            <a:ext cx="374903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この18枚ができた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85800" y="5477256"/>
            <a:ext cx="38100" cy="384048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2688" y="5422392"/>
            <a:ext cx="8686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91377D"/>
                </a:solidFill>
                <a:latin typeface="Menlo"/>
                <a:ea typeface="Menlo"/>
                <a:cs typeface="Menlo"/>
              </a:rPr>
              <a:t>いま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920240" y="5422392"/>
            <a:ext cx="51206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「4枚目の丸が変」「この説明は分からない」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69480" y="5422392"/>
            <a:ext cx="4572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▶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0" y="5422392"/>
            <a:ext cx="374903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その指摘で、今このページを直した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" y="598932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うまくいかない、と言い続けたのは人間です。AIは言われるまで気づきませんでした。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Your Future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3年後、みなさんは大学生。7年後、働いています。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632764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日本大学理工学部 応用情報工学科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27648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12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0160" y="3566160"/>
            <a:ext cx="9601200" cy="38100"/>
          </a:xfrm>
          <a:prstGeom prst="rect">
            <a:avLst/>
          </a:prstGeom>
          <a:solidFill>
            <a:srgbClr val="D9D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783080" y="3401568"/>
            <a:ext cx="201168" cy="201168"/>
          </a:xfrm>
          <a:prstGeom prst="ellipse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2697480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400" b="1" spc="10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3886200"/>
            <a:ext cx="23774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今日</a:t>
            </a:r>
          </a:p>
          <a:p>
            <a:pPr>
              <a:spcBef>
                <a:spcPts val="600"/>
              </a:spcBef>
            </a:pPr>
            <a:r>
              <a:rPr sz="22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高校1年生</a:t>
            </a:r>
          </a:p>
        </p:txBody>
      </p:sp>
      <p:sp>
        <p:nvSpPr>
          <p:cNvPr id="12" name="Oval 11"/>
          <p:cNvSpPr/>
          <p:nvPr/>
        </p:nvSpPr>
        <p:spPr>
          <a:xfrm>
            <a:off x="5212080" y="3401568"/>
            <a:ext cx="201168" cy="201168"/>
          </a:xfrm>
          <a:prstGeom prst="ellipse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09160" y="2697480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400" b="1" spc="10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2029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09160" y="3886200"/>
            <a:ext cx="23774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3年後</a:t>
            </a:r>
          </a:p>
          <a:p>
            <a:pPr>
              <a:spcBef>
                <a:spcPts val="600"/>
              </a:spcBef>
            </a:pPr>
            <a:r>
              <a:rPr sz="22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大学に入る</a:t>
            </a:r>
          </a:p>
        </p:txBody>
      </p:sp>
      <p:sp>
        <p:nvSpPr>
          <p:cNvPr id="15" name="Oval 14"/>
          <p:cNvSpPr/>
          <p:nvPr/>
        </p:nvSpPr>
        <p:spPr>
          <a:xfrm>
            <a:off x="8641080" y="3401568"/>
            <a:ext cx="201168" cy="201168"/>
          </a:xfrm>
          <a:prstGeom prst="ellipse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38160" y="2697480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400" b="1" spc="10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2033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60" y="3886200"/>
            <a:ext cx="23774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7年後</a:t>
            </a:r>
          </a:p>
          <a:p>
            <a:pPr>
              <a:spcBef>
                <a:spcPts val="600"/>
              </a:spcBef>
            </a:pPr>
            <a:r>
              <a:rPr sz="17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就職、または大学院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349240"/>
            <a:ext cx="10789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そのころAIが何をできるようになっているか、私にも分かりません。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How Fast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3年半で、ここまで来ました。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632764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日本大学理工学部 応用情報工学科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27648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651760"/>
            <a:ext cx="5166360" cy="237744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92608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2022年11月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429000"/>
            <a:ext cx="4480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ChatGPTが公開された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160520"/>
            <a:ext cx="4480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文章を書くのが中心だった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2651760"/>
            <a:ext cx="5166360" cy="237744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20840" y="292608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2026年9月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20840" y="3429000"/>
            <a:ext cx="4480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今日、この20分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20840" y="4160520"/>
            <a:ext cx="4480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話を聞いて、サイトを作って、公開できる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349240"/>
            <a:ext cx="107899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次の3年で何が起きるかは、誰にも分かりません。</a:t>
            </a:r>
          </a:p>
          <a:p>
            <a:pPr>
              <a:spcBef>
                <a:spcPts val="600"/>
              </a:spcBef>
            </a:pPr>
            <a:r>
              <a:rPr sz="18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だから、予想するより先に、いまのAIを自分で触ってみることです。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AI and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今日、AIがやったこと。人間がやったこと。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632764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日本大学理工学部 応用情報工学科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27648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14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606040"/>
            <a:ext cx="5166360" cy="315468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880360"/>
            <a:ext cx="4480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spc="20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566160"/>
            <a:ext cx="448056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8000"/>
              </a:lnSpc>
            </a:pPr>
            <a:r>
              <a:rPr sz="16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・文章を書いた</a:t>
            </a:r>
          </a:p>
          <a:p>
            <a:pPr>
              <a:lnSpc>
                <a:spcPct val="178000"/>
              </a:lnSpc>
            </a:pPr>
            <a:r>
              <a:rPr sz="16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・色を決めた</a:t>
            </a:r>
          </a:p>
          <a:p>
            <a:pPr>
              <a:lnSpc>
                <a:spcPct val="178000"/>
              </a:lnSpc>
            </a:pPr>
            <a:r>
              <a:rPr sz="16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・コードを書いた</a:t>
            </a:r>
          </a:p>
          <a:p>
            <a:pPr>
              <a:lnSpc>
                <a:spcPct val="178000"/>
              </a:lnSpc>
            </a:pPr>
            <a:r>
              <a:rPr sz="16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・ゲームのステージを作った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2606040"/>
            <a:ext cx="5166360" cy="315468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880360"/>
            <a:ext cx="4480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spc="200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人間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566160"/>
            <a:ext cx="448056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8000"/>
              </a:lnSpc>
            </a:pPr>
            <a:r>
              <a:rPr sz="16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・何を作るか決めた</a:t>
            </a:r>
          </a:p>
          <a:p>
            <a:pPr>
              <a:lnSpc>
                <a:spcPct val="178000"/>
              </a:lnSpc>
            </a:pPr>
            <a:r>
              <a:rPr sz="16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・みなさんに聞いた</a:t>
            </a:r>
          </a:p>
          <a:p>
            <a:pPr>
              <a:lnSpc>
                <a:spcPct val="178000"/>
              </a:lnSpc>
            </a:pPr>
            <a:r>
              <a:rPr sz="16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・本当かどうか確かめた</a:t>
            </a:r>
          </a:p>
          <a:p>
            <a:pPr>
              <a:lnSpc>
                <a:spcPct val="178000"/>
              </a:lnSpc>
            </a:pPr>
            <a:r>
              <a:rPr sz="16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・ちがうと言って直させた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925312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AIは日習のことを何も知りませんでした。知っているのは、みなさんだけです。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AIも間違えます。確かめるのは人間です。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084831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AIが作ったジャンプ台。押した長さでジャンプを低くする処理が、ジャンプ台の勢いまで消していました。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2764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日本大学理工学部 応用情報工学科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27648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15</a:t>
            </a:r>
          </a:p>
        </p:txBody>
      </p:sp>
      <p:pic>
        <p:nvPicPr>
          <p:cNvPr id="9" name="Picture 8" descr="bug_before_af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2786" y="2651760"/>
            <a:ext cx="9615948" cy="31089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85800" y="589788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公開してから見つかりました。確かめる仕組みを作れる人が要ります。それを学ぶのが情報系の学科です。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91377D"/>
              </a:gs>
              <a:gs pos="100000">
                <a:srgbClr val="593FBF"/>
              </a:gs>
            </a:gsLst>
            <a:lin scaled="0" ang="204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960120"/>
            <a:ext cx="10241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spc="320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463040"/>
            <a:ext cx="10241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今日、持って帰ってほしいこと。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06040"/>
            <a:ext cx="914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spc="200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560320"/>
            <a:ext cx="9144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いまのAIを、自分で触ってみる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3081528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どこまでできて、どこができないかは、触らないと分からない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776472"/>
            <a:ext cx="914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spc="200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3730752"/>
            <a:ext cx="9144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何を作るか決めるのは、人間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425196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AIは日習を知らない。決めて、聞いて、確かめるのはみなさん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946904"/>
            <a:ext cx="914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spc="200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4901184"/>
            <a:ext cx="9144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AIと対話できる人になる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5422392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うまく頼み、確かめ、直させる。その中身を学ぶのが応用情報工学科です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32764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日本大学理工学部 応用情報工学科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0" y="6327648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Your Site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今日つくったサイトは、ここにあります。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084831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1回目のみなさんへ　放課後でも、家でも開けます。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2764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日本大学理工学部 応用情報工学科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27648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17</a:t>
            </a:r>
          </a:p>
        </p:txBody>
      </p:sp>
      <p:pic>
        <p:nvPicPr>
          <p:cNvPr id="9" name="Picture 8" descr="narashino-visit-1-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2606040"/>
            <a:ext cx="3017520" cy="3017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800600" y="3246120"/>
            <a:ext cx="67665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1">
                <a:solidFill>
                  <a:srgbClr val="91377D"/>
                </a:solidFill>
                <a:latin typeface="Menlo"/>
                <a:ea typeface="Menlo"/>
                <a:cs typeface="Menlo"/>
              </a:rPr>
              <a:t>https://yutakajssst.github.io/narashino-visit-1/</a:t>
            </a:r>
          </a:p>
          <a:p>
            <a:pPr>
              <a:spcBef>
                <a:spcPts val="1600"/>
              </a:spcBef>
            </a:pPr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スマホのカメラでQRコードを読んでください。</a:t>
            </a:r>
          </a:p>
          <a:p>
            <a:pPr>
              <a:spcBef>
                <a:spcPts val="400"/>
              </a:spcBef>
            </a:pPr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みなさんの言葉が入ったページと、ミニゲームがあります。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